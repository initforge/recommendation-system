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E8705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29984"/>
            <a:ext cx="12192000" cy="128016"/>
          </a:xfrm>
          <a:prstGeom prst="rect">
            <a:avLst/>
          </a:prstGeom>
          <a:solidFill>
            <a:srgbClr val="E8705A"/>
          </a:solidFill>
          <a:ln/>
        </p:spPr>
      </p:sp>
      <p:pic>
        <p:nvPicPr>
          <p:cNvPr id="4" name="Image 0" descr="P:\recommendation-system\slides\images\cover_illust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731520"/>
            <a:ext cx="484632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1371600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Movie Recommender</a:t>
            </a:r>
            <a:endParaRPr lang="en-US" sz="4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731520" y="347472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Collaborative Filtering · SVD · Content-Based · Hybrid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31520" y="411480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MovieLens 1M  ·  5 Algorithms  ·  Web Demo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5029200"/>
            <a:ext cx="320040" cy="320040"/>
          </a:xfrm>
          <a:prstGeom prst="ellipse">
            <a:avLst/>
          </a:prstGeom>
          <a:solidFill>
            <a:srgbClr val="E8705A"/>
          </a:solidFill>
          <a:ln/>
        </p:spPr>
      </p:sp>
      <p:sp>
        <p:nvSpPr>
          <p:cNvPr id="9" name="Shape 6"/>
          <p:cNvSpPr/>
          <p:nvPr/>
        </p:nvSpPr>
        <p:spPr>
          <a:xfrm>
            <a:off x="1280160" y="5029200"/>
            <a:ext cx="320040" cy="320040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10" name="Shape 7"/>
          <p:cNvSpPr/>
          <p:nvPr/>
        </p:nvSpPr>
        <p:spPr>
          <a:xfrm>
            <a:off x="1828800" y="502920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54864" cy="66751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1145743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Introduction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74320"/>
            <a:ext cx="7616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a Recommender System?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097280"/>
            <a:ext cx="594360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information filtering system that predicts user preferences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Solves the "information overload" problem</a:t>
            </a:r>
            <a:endParaRPr lang="en-US" sz="1300" dirty="0"/>
          </a:p>
          <a:p>
            <a:pPr lvl="1" marL="685800" indent="-342900">
              <a:lnSpc>
                <a:spcPct val="150000"/>
              </a:lnSpc>
              <a:buSzPct val="100000"/>
              <a:buChar char="○"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YouTube: 800M+ videos — how to find the right one?</a:t>
            </a:r>
            <a:endParaRPr lang="en-US" sz="1300" dirty="0"/>
          </a:p>
          <a:p>
            <a:pPr lvl="1" marL="685800" indent="-342900">
              <a:lnSpc>
                <a:spcPct val="150000"/>
              </a:lnSpc>
              <a:buSzPct val="100000"/>
              <a:buChar char="○"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Spotify: 100M+ songs — what should you listen next?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Goal: Predict which items a user will like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Used by Netflix, Amazon, TikTok, Shopee — everywhere</a:t>
            </a:r>
            <a:endParaRPr lang="en-US" sz="1300" dirty="0"/>
          </a:p>
        </p:txBody>
      </p:sp>
      <p:pic>
        <p:nvPicPr>
          <p:cNvPr id="9" name="Image 0" descr="P:\recommendation-system\slides\images\choice_overlo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914400"/>
            <a:ext cx="4572000" cy="4572000"/>
          </a:xfrm>
          <a:prstGeom prst="ellipse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57200" y="5760720"/>
            <a:ext cx="11274552" cy="640080"/>
          </a:xfrm>
          <a:prstGeom prst="roundRect">
            <a:avLst>
              <a:gd name="adj" fmla="val 14286"/>
            </a:avLst>
          </a:prstGeom>
          <a:solidFill>
            <a:srgbClr val="F0F7F7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806440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Core: Analyze past behavior → Find patterns → Predict → Recommend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54864" cy="66751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1145743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Introduction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74320"/>
            <a:ext cx="7616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Movies? Why MovieLens?</a:t>
            </a:r>
            <a:endParaRPr lang="en-US" sz="2800" dirty="0"/>
          </a:p>
        </p:txBody>
      </p:sp>
      <p:pic>
        <p:nvPicPr>
          <p:cNvPr id="8" name="Image 0" descr="P:\recommendation-system\slides\images\movie_data_ic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731520"/>
            <a:ext cx="4389120" cy="4389120"/>
          </a:xfrm>
          <a:prstGeom prst="ellipse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1097280"/>
            <a:ext cx="64008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MovieLens: Gold standard for RecSys research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versions: 100K / 1M / 25M ratings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chose MovieLens 1M — large enough, fast enough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57600"/>
          <a:ext cx="6400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914400"/>
                <a:gridCol w="109728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Criteria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Movies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Books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Products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Music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Free dataset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 MovieLens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⏳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❌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⏳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Clear features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 Genres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❌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Easy to demo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 Universal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⏳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⏳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Research papers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 Most popular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⏳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❌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⏳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E8705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E8705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54864" cy="6675120"/>
          </a:xfrm>
          <a:prstGeom prst="rect">
            <a:avLst/>
          </a:prstGeom>
          <a:solidFill>
            <a:srgbClr val="E8705A"/>
          </a:solidFill>
          <a:ln/>
        </p:spPr>
      </p:sp>
      <p:sp>
        <p:nvSpPr>
          <p:cNvPr id="5" name="Text 3"/>
          <p:cNvSpPr/>
          <p:nvPr/>
        </p:nvSpPr>
        <p:spPr>
          <a:xfrm>
            <a:off x="1145743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Dataset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74320"/>
            <a:ext cx="7616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MovieLens 1M — Dataset Overview</a:t>
            </a:r>
            <a:endParaRPr lang="en-US" sz="2800" dirty="0"/>
          </a:p>
        </p:txBody>
      </p:sp>
      <p:pic>
        <p:nvPicPr>
          <p:cNvPr id="8" name="Image 0" descr="P:\recommendation-system\slides\images\data_files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731520"/>
            <a:ext cx="4389120" cy="4114800"/>
          </a:xfrm>
          <a:prstGeom prst="ellipse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1097280"/>
            <a:ext cx="64008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1,000,209 ratings from 6,040 users on 3,706 movies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Rating scale: 1–5 stars (avg 3.58)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Sparsity: 95.5% — most user-movie pairs unknown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Collected 2000–2003 by GroupLens Research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data files: ratings.dat · movies.dat · users.dat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4846320"/>
            <a:ext cx="2560320" cy="1188720"/>
          </a:xfrm>
          <a:prstGeom prst="roundRect">
            <a:avLst>
              <a:gd name="adj" fmla="val 9231"/>
            </a:avLst>
          </a:prstGeom>
          <a:solidFill>
            <a:srgbClr val="2A9D8F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920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6,040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457200" y="55321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291840" y="4846320"/>
            <a:ext cx="2560320" cy="1188720"/>
          </a:xfrm>
          <a:prstGeom prst="roundRect">
            <a:avLst>
              <a:gd name="adj" fmla="val 9231"/>
            </a:avLst>
          </a:prstGeom>
          <a:solidFill>
            <a:srgbClr val="2A9D8F"/>
          </a:solidFill>
          <a:ln/>
        </p:spPr>
      </p:sp>
      <p:sp>
        <p:nvSpPr>
          <p:cNvPr id="14" name="Text 11"/>
          <p:cNvSpPr/>
          <p:nvPr/>
        </p:nvSpPr>
        <p:spPr>
          <a:xfrm>
            <a:off x="3291840" y="48920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3,706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3291840" y="55321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Movies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126480" y="4846320"/>
            <a:ext cx="2560320" cy="1188720"/>
          </a:xfrm>
          <a:prstGeom prst="roundRect">
            <a:avLst>
              <a:gd name="adj" fmla="val 9231"/>
            </a:avLst>
          </a:prstGeom>
          <a:solidFill>
            <a:srgbClr val="2A9D8F"/>
          </a:solidFill>
          <a:ln/>
        </p:spPr>
      </p:sp>
      <p:sp>
        <p:nvSpPr>
          <p:cNvPr id="17" name="Text 14"/>
          <p:cNvSpPr/>
          <p:nvPr/>
        </p:nvSpPr>
        <p:spPr>
          <a:xfrm>
            <a:off x="6126480" y="48920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1,000,209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6126480" y="55321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Ratings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8961120" y="4846320"/>
            <a:ext cx="2560320" cy="1188720"/>
          </a:xfrm>
          <a:prstGeom prst="roundRect">
            <a:avLst>
              <a:gd name="adj" fmla="val 9231"/>
            </a:avLst>
          </a:prstGeom>
          <a:solidFill>
            <a:srgbClr val="E8705A"/>
          </a:solidFill>
          <a:ln/>
        </p:spPr>
      </p:sp>
      <p:sp>
        <p:nvSpPr>
          <p:cNvPr id="20" name="Text 17"/>
          <p:cNvSpPr/>
          <p:nvPr/>
        </p:nvSpPr>
        <p:spPr>
          <a:xfrm>
            <a:off x="8961120" y="48920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95.5%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8961120" y="55321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Sparsity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E8705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E8705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54864" cy="6675120"/>
          </a:xfrm>
          <a:prstGeom prst="rect">
            <a:avLst/>
          </a:prstGeom>
          <a:solidFill>
            <a:srgbClr val="E8705A"/>
          </a:solidFill>
          <a:ln/>
        </p:spPr>
      </p:sp>
      <p:sp>
        <p:nvSpPr>
          <p:cNvPr id="5" name="Text 3"/>
          <p:cNvSpPr/>
          <p:nvPr/>
        </p:nvSpPr>
        <p:spPr>
          <a:xfrm>
            <a:off x="1145743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Dataset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74320"/>
            <a:ext cx="7616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Dataset Details — What's Inside Each File?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47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657600"/>
                <a:gridCol w="1371600"/>
                <a:gridCol w="45720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File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Rows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Used For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ratings.dat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userId, movieId, rating, timestamp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1,000,209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CF, SVD, Evaluation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movies.dat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movieId, title, genres (18 types)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3,883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Content-Based, Hybrid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users.dat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userId, gender, age, occupation, zip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6,040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Context Analysis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3657600"/>
            <a:ext cx="109728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Rating 4★ is most common (~34%) — positive bias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genres: Action, Drama, Comedy, Sci-Fi, Romance, ...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age groups: Under 18, 18-24, 25-34, 35-44, 45-49, 50-55, 56+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 occupations: student, programmer, engineer, doctor, ...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Timestamp → extractable temporal features (year, hour, weekday)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E8705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E8705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54864" cy="6675120"/>
          </a:xfrm>
          <a:prstGeom prst="rect">
            <a:avLst/>
          </a:prstGeom>
          <a:solidFill>
            <a:srgbClr val="E8705A"/>
          </a:solidFill>
          <a:ln/>
        </p:spPr>
      </p:sp>
      <p:sp>
        <p:nvSpPr>
          <p:cNvPr id="5" name="Text 3"/>
          <p:cNvSpPr/>
          <p:nvPr/>
        </p:nvSpPr>
        <p:spPr>
          <a:xfrm>
            <a:off x="1145743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Dataset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74320"/>
            <a:ext cx="7616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Flow — Which File Feeds Which Algorithm?</a:t>
            </a:r>
            <a:endParaRPr lang="en-US" sz="2800" dirty="0"/>
          </a:p>
        </p:txBody>
      </p:sp>
      <p:pic>
        <p:nvPicPr>
          <p:cNvPr id="8" name="Image 0" descr="P:\recommendation-system\slides\images\data_flow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097280"/>
            <a:ext cx="9418320" cy="41148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5486400"/>
            <a:ext cx="3566160" cy="594360"/>
          </a:xfrm>
          <a:prstGeom prst="roundRect">
            <a:avLst>
              <a:gd name="adj" fmla="val 15385"/>
            </a:avLst>
          </a:prstGeom>
          <a:solidFill>
            <a:srgbClr val="2A9D8F"/>
          </a:solidFill>
          <a:ln/>
        </p:spPr>
      </p:sp>
      <p:sp>
        <p:nvSpPr>
          <p:cNvPr id="10" name="Text 7"/>
          <p:cNvSpPr/>
          <p:nvPr/>
        </p:nvSpPr>
        <p:spPr>
          <a:xfrm>
            <a:off x="594360" y="548640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ratings.dat → CF, SVD, Evaluation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297680" y="5486400"/>
            <a:ext cx="3566160" cy="594360"/>
          </a:xfrm>
          <a:prstGeom prst="roundRect">
            <a:avLst>
              <a:gd name="adj" fmla="val 15385"/>
            </a:avLst>
          </a:prstGeom>
          <a:solidFill>
            <a:srgbClr val="E8705A"/>
          </a:solidFill>
          <a:ln/>
        </p:spPr>
      </p:sp>
      <p:sp>
        <p:nvSpPr>
          <p:cNvPr id="12" name="Text 9"/>
          <p:cNvSpPr/>
          <p:nvPr/>
        </p:nvSpPr>
        <p:spPr>
          <a:xfrm>
            <a:off x="4434840" y="548640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movies.dat → Content-Based, Hybrid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138160" y="5486400"/>
            <a:ext cx="3566160" cy="594360"/>
          </a:xfrm>
          <a:prstGeom prst="roundRect">
            <a:avLst>
              <a:gd name="adj" fmla="val 15385"/>
            </a:avLst>
          </a:prstGeom>
          <a:solidFill>
            <a:srgbClr val="7B68EE"/>
          </a:solidFill>
          <a:ln/>
        </p:spPr>
      </p:sp>
      <p:sp>
        <p:nvSpPr>
          <p:cNvPr id="14" name="Text 11"/>
          <p:cNvSpPr/>
          <p:nvPr/>
        </p:nvSpPr>
        <p:spPr>
          <a:xfrm>
            <a:off x="8275320" y="548640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users.dat → Context Features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54864" cy="667512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5" name="Text 3"/>
          <p:cNvSpPr/>
          <p:nvPr/>
        </p:nvSpPr>
        <p:spPr>
          <a:xfrm>
            <a:off x="1145743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74320"/>
            <a:ext cx="7616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Setup &amp; Exploratory Data Analysis</a:t>
            </a:r>
            <a:endParaRPr lang="en-US" sz="2800" dirty="0"/>
          </a:p>
        </p:txBody>
      </p:sp>
      <p:pic>
        <p:nvPicPr>
          <p:cNvPr id="8" name="Image 0" descr="P:\recommendation-system\slides\images\scientist_cha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914400"/>
            <a:ext cx="4572000" cy="4572000"/>
          </a:xfrm>
          <a:prstGeom prst="ellipse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1097280"/>
            <a:ext cx="640080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Environment: Google Colab (free GPU/CPU)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Libraries: pandas, numpy, matplotlib, scikit-surprise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 data: pd.read_csv(sep="::", engine="python")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Basic stats:</a:t>
            </a:r>
            <a:endParaRPr lang="en-US" sz="1300" dirty="0"/>
          </a:p>
          <a:p>
            <a:pPr lvl="1" marL="685800" indent="-342900">
              <a:lnSpc>
                <a:spcPct val="150000"/>
              </a:lnSpc>
              <a:buSzPct val="100000"/>
              <a:buChar char="○"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rating: 3.58 ★</a:t>
            </a:r>
            <a:endParaRPr lang="en-US" sz="1300" dirty="0"/>
          </a:p>
          <a:p>
            <a:pPr lvl="1" marL="685800" indent="-342900">
              <a:lnSpc>
                <a:spcPct val="150000"/>
              </a:lnSpc>
              <a:buSzPct val="100000"/>
              <a:buChar char="○"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Ratings per user: min 20, median ~96</a:t>
            </a:r>
            <a:endParaRPr lang="en-US" sz="1300" dirty="0"/>
          </a:p>
          <a:p>
            <a:pPr lvl="1" marL="685800" indent="-342900">
              <a:lnSpc>
                <a:spcPct val="150000"/>
              </a:lnSpc>
              <a:buSzPct val="100000"/>
              <a:buChar char="○"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 rated: "American Beauty" (3,428 ratings)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5760720"/>
            <a:ext cx="11274552" cy="640080"/>
          </a:xfrm>
          <a:prstGeom prst="roundRect">
            <a:avLst>
              <a:gd name="adj" fmla="val 14286"/>
            </a:avLst>
          </a:prstGeom>
          <a:solidFill>
            <a:srgbClr val="F0F7F7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806440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Notebook: 01_setup_eda.ipynb → Load, clean, visualize, export stats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54864" cy="667512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5" name="Text 3"/>
          <p:cNvSpPr/>
          <p:nvPr/>
        </p:nvSpPr>
        <p:spPr>
          <a:xfrm>
            <a:off x="1145743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74320"/>
            <a:ext cx="7616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EDA — Key Findings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097280"/>
            <a:ext cx="640080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Rating Distribution: 4★ most frequent (34%), 1★ rarest (6%)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Users tend to rate positively (positive bias)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Power-law in movie popularity — a few movies get most ratings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Genre distribution: Drama &gt; Comedy &gt; Action dominate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movie has 1.6 genres on avg (multi-label)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Temporal span: 2000–2003 (3 years of data)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0" y="914400"/>
            <a:ext cx="4389120" cy="1645920"/>
          </a:xfrm>
          <a:prstGeom prst="roundRect">
            <a:avLst>
              <a:gd name="adj" fmla="val 5556"/>
            </a:avLst>
          </a:prstGeom>
          <a:solidFill>
            <a:srgbClr val="F5F5F5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0" y="100584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Rating Distribution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498080" y="1371600"/>
            <a:ext cx="4023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4★ = 34%  |  3★ = 27%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5★ = 21%  |  2★ = 11%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1★ =  6%  (positive bias)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0" y="2743200"/>
            <a:ext cx="4389120" cy="1645920"/>
          </a:xfrm>
          <a:prstGeom prst="roundRect">
            <a:avLst>
              <a:gd name="adj" fmla="val 5556"/>
            </a:avLst>
          </a:prstGeom>
          <a:solidFill>
            <a:srgbClr val="F5F5F5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0" y="283464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Genres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98080" y="3200400"/>
            <a:ext cx="4023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Drama:  1,500+ movies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Comedy: 1,200+ movies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Action:   900+ movies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0" y="4572000"/>
            <a:ext cx="4389120" cy="1645920"/>
          </a:xfrm>
          <a:prstGeom prst="roundRect">
            <a:avLst>
              <a:gd name="adj" fmla="val 5556"/>
            </a:avLst>
          </a:prstGeom>
          <a:solidFill>
            <a:srgbClr val="F5F5F5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0" y="466344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Activity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498080" y="5029200"/>
            <a:ext cx="4023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Mean: 166 ratings/user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Min: 20  |  Max: 2,314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Median: ~96 ratings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7B68E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7B68E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54864" cy="6675120"/>
          </a:xfrm>
          <a:prstGeom prst="rect">
            <a:avLst/>
          </a:prstGeom>
          <a:solidFill>
            <a:srgbClr val="7B68EE"/>
          </a:solidFill>
          <a:ln/>
        </p:spPr>
      </p:sp>
      <p:sp>
        <p:nvSpPr>
          <p:cNvPr id="5" name="Text 3"/>
          <p:cNvSpPr/>
          <p:nvPr/>
        </p:nvSpPr>
        <p:spPr>
          <a:xfrm>
            <a:off x="1145743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Algorithms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74320"/>
            <a:ext cx="7616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Algorithm Taxonomy — 5 Approaches</a:t>
            </a:r>
            <a:endParaRPr lang="en-US" sz="2800" dirty="0"/>
          </a:p>
        </p:txBody>
      </p:sp>
      <p:pic>
        <p:nvPicPr>
          <p:cNvPr id="8" name="Image 0" descr="P:\recommendation-system\slides\images\algorithm_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731520"/>
            <a:ext cx="4754880" cy="47548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1371600"/>
            <a:ext cx="6400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┌─ Collaborative Filtering (CF)</a:t>
            </a:r>
            <a:endParaRPr lang="en-US" sz="13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├─ 1. User-Based CF     (find similar users)</a:t>
            </a:r>
            <a:endParaRPr lang="en-US" sz="13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├─ 2. Item-Based CF     (find similar items)</a:t>
            </a:r>
            <a:endParaRPr lang="en-US" sz="13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└─ 3. SVD               (latent factors)</a:t>
            </a:r>
            <a:endParaRPr lang="en-US" sz="13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</a:t>
            </a:r>
            <a:endParaRPr lang="en-US" sz="13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4. Content-Based        (TF-IDF on genres)</a:t>
            </a:r>
            <a:endParaRPr lang="en-US" sz="13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</a:t>
            </a:r>
            <a:endParaRPr lang="en-US" sz="13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5. Hybrid               (SVD + Content-Based)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5760720"/>
            <a:ext cx="11274552" cy="640080"/>
          </a:xfrm>
          <a:prstGeom prst="roundRect">
            <a:avLst>
              <a:gd name="adj" fmla="val 14286"/>
            </a:avLst>
          </a:prstGeom>
          <a:solidFill>
            <a:srgbClr val="F0F7F7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806440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Learning order: User-CF → Item-CF → SVD → Content-Based → Hybrid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7B68E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7B68E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54864" cy="6675120"/>
          </a:xfrm>
          <a:prstGeom prst="rect">
            <a:avLst/>
          </a:prstGeom>
          <a:solidFill>
            <a:srgbClr val="7B68EE"/>
          </a:solidFill>
          <a:ln/>
        </p:spPr>
      </p:sp>
      <p:sp>
        <p:nvSpPr>
          <p:cNvPr id="5" name="Text 3"/>
          <p:cNvSpPr/>
          <p:nvPr/>
        </p:nvSpPr>
        <p:spPr>
          <a:xfrm>
            <a:off x="1145743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Algorithms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74320"/>
            <a:ext cx="7616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Algorithm 1 — User-Based Collaborative Filtering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097280"/>
            <a:ext cx="64008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Idea: "Users with similar tastes like similar movies"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1: Represent each user as a rating vector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2: Compute Cosine Similarity between user pairs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3: Find K=20 nearest neighbors (KNN)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4: Predict rating via weighted average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114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Cosine Similarity:</a:t>
            </a:r>
            <a:endParaRPr lang="en-US" sz="1100" dirty="0"/>
          </a:p>
        </p:txBody>
      </p:sp>
      <p:pic>
        <p:nvPicPr>
          <p:cNvPr id="10" name="Image 0" descr="P:\recommendation-system\slides\formulas\cosine_s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434840"/>
            <a:ext cx="4572000" cy="7772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943600" y="4114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Prediction Formula:</a:t>
            </a:r>
            <a:endParaRPr lang="en-US" sz="1100" dirty="0"/>
          </a:p>
        </p:txBody>
      </p:sp>
      <p:pic>
        <p:nvPicPr>
          <p:cNvPr id="12" name="Image 1" descr="P:\recommendation-system\slides\formulas\user_cf_p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434840"/>
            <a:ext cx="5486400" cy="8686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315200" y="914400"/>
            <a:ext cx="4389120" cy="228600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/>
        </p:spPr>
      </p:sp>
      <p:sp>
        <p:nvSpPr>
          <p:cNvPr id="14" name="Text 10"/>
          <p:cNvSpPr/>
          <p:nvPr/>
        </p:nvSpPr>
        <p:spPr>
          <a:xfrm>
            <a:off x="7498080" y="1005840"/>
            <a:ext cx="40233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No content knowledge needed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Pure behavior-based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Slow for large user sets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Cold-start problem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772400" y="5669280"/>
            <a:ext cx="3931920" cy="731520"/>
          </a:xfrm>
          <a:prstGeom prst="roundRect">
            <a:avLst>
              <a:gd name="adj" fmla="val 12500"/>
            </a:avLst>
          </a:prstGeom>
          <a:solidFill>
            <a:srgbClr val="E8705A"/>
          </a:solidFill>
          <a:ln/>
        </p:spPr>
      </p:sp>
      <p:sp>
        <p:nvSpPr>
          <p:cNvPr id="16" name="Text 12"/>
          <p:cNvSpPr/>
          <p:nvPr/>
        </p:nvSpPr>
        <p:spPr>
          <a:xfrm>
            <a:off x="7863840" y="571500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RMSE: 0.9293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7B68E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7B68E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54864" cy="6675120"/>
          </a:xfrm>
          <a:prstGeom prst="rect">
            <a:avLst/>
          </a:prstGeom>
          <a:solidFill>
            <a:srgbClr val="7B68EE"/>
          </a:solidFill>
          <a:ln/>
        </p:spPr>
      </p:sp>
      <p:sp>
        <p:nvSpPr>
          <p:cNvPr id="5" name="Text 3"/>
          <p:cNvSpPr/>
          <p:nvPr/>
        </p:nvSpPr>
        <p:spPr>
          <a:xfrm>
            <a:off x="1145743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Algorithms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74320"/>
            <a:ext cx="7616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Algorithm 2 — Item-Based Collaborative Filtering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097280"/>
            <a:ext cx="64008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Idea: "Movies rated similarly by many users are similar"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 items instead of users — more stable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Netflix and Amazon use Item-Based CF in production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KNN approach, but sim(item_i, item_j)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566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Prediction Formula:</a:t>
            </a:r>
            <a:endParaRPr lang="en-US" sz="1100" dirty="0"/>
          </a:p>
        </p:txBody>
      </p:sp>
      <p:pic>
        <p:nvPicPr>
          <p:cNvPr id="10" name="Image 0" descr="P:\recommendation-system\slides\formulas\item_c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886200"/>
            <a:ext cx="5029200" cy="82296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097280"/>
          <a:ext cx="53035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965960"/>
                <a:gridCol w="196596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Aspect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User-Based CF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Item-Based CF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Compares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Users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Items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Stability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 (users change)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 (items stable)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Speed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Slower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Faster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RMSE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0.9293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0.9293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7772400" y="5669280"/>
            <a:ext cx="3931920" cy="731520"/>
          </a:xfrm>
          <a:prstGeom prst="roundRect">
            <a:avLst>
              <a:gd name="adj" fmla="val 12500"/>
            </a:avLst>
          </a:prstGeom>
          <a:solidFill>
            <a:srgbClr val="E8705A"/>
          </a:solidFill>
          <a:ln/>
        </p:spPr>
      </p:sp>
      <p:sp>
        <p:nvSpPr>
          <p:cNvPr id="13" name="Text 9"/>
          <p:cNvSpPr/>
          <p:nvPr/>
        </p:nvSpPr>
        <p:spPr>
          <a:xfrm>
            <a:off x="7863840" y="571500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RMSE: 0.9293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7B68E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7B68E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54864" cy="6675120"/>
          </a:xfrm>
          <a:prstGeom prst="rect">
            <a:avLst/>
          </a:prstGeom>
          <a:solidFill>
            <a:srgbClr val="7B68EE"/>
          </a:solidFill>
          <a:ln/>
        </p:spPr>
      </p:sp>
      <p:sp>
        <p:nvSpPr>
          <p:cNvPr id="5" name="Text 3"/>
          <p:cNvSpPr/>
          <p:nvPr/>
        </p:nvSpPr>
        <p:spPr>
          <a:xfrm>
            <a:off x="1145743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Algorithms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74320"/>
            <a:ext cx="7616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Algorithm 3 — SVD (Matrix Factorization)</a:t>
            </a:r>
            <a:endParaRPr lang="en-US" sz="2800" dirty="0"/>
          </a:p>
        </p:txBody>
      </p:sp>
      <p:pic>
        <p:nvPicPr>
          <p:cNvPr id="8" name="Image 0" descr="P:\recommendation-system\slides\images\matrix_decomposi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731520"/>
            <a:ext cx="4389120" cy="4114800"/>
          </a:xfrm>
          <a:prstGeom prst="ellipse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1097280"/>
            <a:ext cx="64008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Problem: Rating matrix is 95.5% empty (sparse)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Idea: Decompose R into P × Qᵀ (latent factors)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user &amp; movie → vector of k hidden features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learns features automatically from data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Trained via Stochastic Gradient Descent (SGD)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41148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Decomposition:</a:t>
            </a:r>
            <a:endParaRPr lang="en-US" sz="1100" dirty="0"/>
          </a:p>
        </p:txBody>
      </p:sp>
      <p:pic>
        <p:nvPicPr>
          <p:cNvPr id="11" name="Image 1" descr="P:\recommendation-system\slides\formulas\svd_deco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389120"/>
            <a:ext cx="4114800" cy="640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0" y="41148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Prediction:</a:t>
            </a:r>
            <a:endParaRPr lang="en-US" sz="1100" dirty="0"/>
          </a:p>
        </p:txBody>
      </p:sp>
      <p:pic>
        <p:nvPicPr>
          <p:cNvPr id="13" name="Image 2" descr="P:\recommendation-system\slides\formulas\svd_pr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4389120"/>
            <a:ext cx="4114800" cy="59436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57200" y="5303520"/>
            <a:ext cx="4572000" cy="731520"/>
          </a:xfrm>
          <a:prstGeom prst="roundRect">
            <a:avLst>
              <a:gd name="adj" fmla="val 12500"/>
            </a:avLst>
          </a:prstGeom>
          <a:solidFill>
            <a:srgbClr val="F5F5F5"/>
          </a:solidFill>
          <a:ln/>
        </p:spPr>
      </p:sp>
      <p:sp>
        <p:nvSpPr>
          <p:cNvPr id="15" name="Text 10"/>
          <p:cNvSpPr/>
          <p:nvPr/>
        </p:nvSpPr>
        <p:spPr>
          <a:xfrm>
            <a:off x="640080" y="534924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4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n_factors=50 · n_epochs=20 · μ=3.58 · b_u, b_i = bias terms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400800" y="5669280"/>
            <a:ext cx="3931920" cy="731520"/>
          </a:xfrm>
          <a:prstGeom prst="roundRect">
            <a:avLst>
              <a:gd name="adj" fmla="val 12500"/>
            </a:avLst>
          </a:prstGeom>
          <a:solidFill>
            <a:srgbClr val="E8705A"/>
          </a:solidFill>
          <a:ln/>
        </p:spPr>
      </p:sp>
      <p:sp>
        <p:nvSpPr>
          <p:cNvPr id="17" name="Text 12"/>
          <p:cNvSpPr/>
          <p:nvPr/>
        </p:nvSpPr>
        <p:spPr>
          <a:xfrm>
            <a:off x="6492240" y="571500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 RMSE: 0.8706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7B68E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7B68E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54864" cy="6675120"/>
          </a:xfrm>
          <a:prstGeom prst="rect">
            <a:avLst/>
          </a:prstGeom>
          <a:solidFill>
            <a:srgbClr val="7B68EE"/>
          </a:solidFill>
          <a:ln/>
        </p:spPr>
      </p:sp>
      <p:sp>
        <p:nvSpPr>
          <p:cNvPr id="5" name="Text 3"/>
          <p:cNvSpPr/>
          <p:nvPr/>
        </p:nvSpPr>
        <p:spPr>
          <a:xfrm>
            <a:off x="1145743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Algorithms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74320"/>
            <a:ext cx="7616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Algorithm 4 — Content-Based Filtering</a:t>
            </a:r>
            <a:endParaRPr lang="en-US" sz="2800" dirty="0"/>
          </a:p>
        </p:txBody>
      </p:sp>
      <p:pic>
        <p:nvPicPr>
          <p:cNvPr id="8" name="Image 0" descr="P:\recommendation-system\slides\images\movie_tags_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731520"/>
            <a:ext cx="4389120" cy="4114800"/>
          </a:xfrm>
          <a:prstGeom prst="ellipse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1097280"/>
            <a:ext cx="64008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Idea: "If you liked Action movies, try more Action"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Based on movie CONTENT (genres), not on other users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1: Convert genres → TF-IDF vectors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2: Compute Cosine Similarity (movie × movie)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3: Recommend movies similar to user's top-rated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Solves Cold-Start — works even for new users!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4114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TF-IDF Formula:</a:t>
            </a:r>
            <a:endParaRPr lang="en-US" sz="1100" dirty="0"/>
          </a:p>
        </p:txBody>
      </p:sp>
      <p:pic>
        <p:nvPicPr>
          <p:cNvPr id="11" name="Image 1" descr="P:\recommendation-system\slides\formulas\tfid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434840"/>
            <a:ext cx="5029200" cy="777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400800" y="4114800"/>
            <a:ext cx="5303520" cy="1463040"/>
          </a:xfrm>
          <a:prstGeom prst="roundRect">
            <a:avLst>
              <a:gd name="adj" fmla="val 6250"/>
            </a:avLst>
          </a:prstGeom>
          <a:solidFill>
            <a:srgbClr val="F5F5F5"/>
          </a:solidFill>
          <a:ln/>
        </p:spPr>
      </p:sp>
      <p:sp>
        <p:nvSpPr>
          <p:cNvPr id="13" name="Text 9"/>
          <p:cNvSpPr/>
          <p:nvPr/>
        </p:nvSpPr>
        <p:spPr>
          <a:xfrm>
            <a:off x="6583680" y="416052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No need for other users' data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Solves cold-start problem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Explainable recommendations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Limited diversity (filter bubble)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Depends on metadata quality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566928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E8705A"/>
          </a:solidFill>
          <a:ln/>
        </p:spPr>
      </p:sp>
      <p:sp>
        <p:nvSpPr>
          <p:cNvPr id="15" name="Text 11"/>
          <p:cNvSpPr/>
          <p:nvPr/>
        </p:nvSpPr>
        <p:spPr>
          <a:xfrm>
            <a:off x="548640" y="57150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Precision@10: 0.1163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7B68E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7B68E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54864" cy="6675120"/>
          </a:xfrm>
          <a:prstGeom prst="rect">
            <a:avLst/>
          </a:prstGeom>
          <a:solidFill>
            <a:srgbClr val="7B68EE"/>
          </a:solidFill>
          <a:ln/>
        </p:spPr>
      </p:sp>
      <p:sp>
        <p:nvSpPr>
          <p:cNvPr id="5" name="Text 3"/>
          <p:cNvSpPr/>
          <p:nvPr/>
        </p:nvSpPr>
        <p:spPr>
          <a:xfrm>
            <a:off x="1145743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Algorithms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74320"/>
            <a:ext cx="7616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Algorithm 5 — Hybrid (SVD + Content-Based)</a:t>
            </a:r>
            <a:endParaRPr lang="en-US" sz="2800" dirty="0"/>
          </a:p>
        </p:txBody>
      </p:sp>
      <p:pic>
        <p:nvPicPr>
          <p:cNvPr id="8" name="Image 0" descr="P:\recommendation-system\slides\images\puzzle_pie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731520"/>
            <a:ext cx="3931920" cy="3931920"/>
          </a:xfrm>
          <a:prstGeom prst="ellipse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1097280"/>
            <a:ext cx="68580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SVD: Accurate predictions, but has cold-start problem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Content-Based: Handles cold-start, but limited diversity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Hybrid = Best of both worlds!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Weighted combination: α=0.6 (60% SVD + 40% CB)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36576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Hybrid Score:</a:t>
            </a:r>
            <a:endParaRPr lang="en-US" sz="1200" dirty="0"/>
          </a:p>
        </p:txBody>
      </p:sp>
      <p:pic>
        <p:nvPicPr>
          <p:cNvPr id="11" name="Image 1" descr="P:\recommendation-system\slides\formulas\hybr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977640"/>
            <a:ext cx="5943600" cy="73152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93776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114800"/>
                <a:gridCol w="53035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Strategy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How it Works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When to Use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Weighted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α×SVD + (1-α)×CB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Simple, default approach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Switching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CF if enough data, else CB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Handle cold-start gracefully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Cascade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SVD→100, CB→30, Rank→10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Multi-layer filtering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54864" cy="667512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5" name="Text 3"/>
          <p:cNvSpPr/>
          <p:nvPr/>
        </p:nvSpPr>
        <p:spPr>
          <a:xfrm>
            <a:off x="1145743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74320"/>
            <a:ext cx="7616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Do We Need Evaluation Metrics?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097280"/>
            <a:ext cx="640080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metrics — "which algorithm is better?" is subjective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 concrete numbers to compare algorithms objectively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types of evaluation:</a:t>
            </a:r>
            <a:endParaRPr lang="en-US" sz="1300" dirty="0"/>
          </a:p>
          <a:p>
            <a:pPr lvl="1" marL="685800" indent="-342900">
              <a:lnSpc>
                <a:spcPct val="150000"/>
              </a:lnSpc>
              <a:buSzPct val="100000"/>
              <a:buChar char="○"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Prediction Metrics: How accurate is the rating prediction?</a:t>
            </a:r>
            <a:endParaRPr lang="en-US" sz="1300" dirty="0"/>
          </a:p>
          <a:p>
            <a:pPr lvl="1" marL="685800" indent="-342900">
              <a:lnSpc>
                <a:spcPct val="150000"/>
              </a:lnSpc>
              <a:buSzPct val="100000"/>
              <a:buChar char="○"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Ranking Metrics: How good is the recommendation list?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Train/Test Split: 80% train, 20% test (random or temporal)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0" y="914400"/>
            <a:ext cx="4389120" cy="2377440"/>
          </a:xfrm>
          <a:prstGeom prst="roundRect">
            <a:avLst>
              <a:gd name="adj" fmla="val 4615"/>
            </a:avLst>
          </a:prstGeom>
          <a:solidFill>
            <a:srgbClr val="E8F6F3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0" y="10058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PREDICTION METRICS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98080" y="1417320"/>
            <a:ext cx="4023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RMSE, MAE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"How far off is the predicted rating?"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Lower = Better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0" y="3566160"/>
            <a:ext cx="4389120" cy="2377440"/>
          </a:xfrm>
          <a:prstGeom prst="roundRect">
            <a:avLst>
              <a:gd name="adj" fmla="val 4615"/>
            </a:avLst>
          </a:prstGeom>
          <a:solidFill>
            <a:srgbClr val="FDF2E9"/>
          </a:solidFill>
          <a:ln w="19050">
            <a:solidFill>
              <a:srgbClr val="E870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0" y="365760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7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RANKING METRICS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498080" y="4069080"/>
            <a:ext cx="4023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Precision@K, Recall@K, MAP, NDCG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"How relevant is the top-K list?"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Higher = Better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760720"/>
            <a:ext cx="11274552" cy="640080"/>
          </a:xfrm>
          <a:prstGeom prst="roundRect">
            <a:avLst>
              <a:gd name="adj" fmla="val 14286"/>
            </a:avLst>
          </a:prstGeom>
          <a:solidFill>
            <a:srgbClr val="F0F7F7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5806440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Must evaluate on UNSEEN data (test set) — not training data!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54864" cy="667512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5" name="Text 3"/>
          <p:cNvSpPr/>
          <p:nvPr/>
        </p:nvSpPr>
        <p:spPr>
          <a:xfrm>
            <a:off x="1145743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74320"/>
            <a:ext cx="7616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Prediction Metrics — RMSE &amp; MAE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57200" y="1097280"/>
            <a:ext cx="5486400" cy="2011680"/>
          </a:xfrm>
          <a:prstGeom prst="roundRect">
            <a:avLst>
              <a:gd name="adj" fmla="val 4545"/>
            </a:avLst>
          </a:prstGeom>
          <a:solidFill>
            <a:srgbClr val="E8F6F3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1430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RMSE — Root Mean Square Error:</a:t>
            </a:r>
            <a:endParaRPr lang="en-US" sz="1400" dirty="0"/>
          </a:p>
        </p:txBody>
      </p:sp>
      <p:pic>
        <p:nvPicPr>
          <p:cNvPr id="10" name="Image 0" descr="P:\recommendation-system\slides\formulas\rm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00200"/>
            <a:ext cx="4572000" cy="822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31520" y="2468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Penalizes large errors more → sensitive to outliers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3291840"/>
            <a:ext cx="5486400" cy="1828800"/>
          </a:xfrm>
          <a:prstGeom prst="roundRect">
            <a:avLst>
              <a:gd name="adj" fmla="val 5000"/>
            </a:avLst>
          </a:prstGeom>
          <a:solidFill>
            <a:srgbClr val="FDF2E9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3337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7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MAE — Mean Absolute Error:</a:t>
            </a:r>
            <a:endParaRPr lang="en-US" sz="1400" dirty="0"/>
          </a:p>
        </p:txBody>
      </p:sp>
      <p:pic>
        <p:nvPicPr>
          <p:cNvPr id="14" name="Image 1" descr="P:\recommendation-system\slides\formulas\ma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794760"/>
            <a:ext cx="4114800" cy="7315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31520" y="45720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Treats all errors equally → more robust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400800" y="1097280"/>
            <a:ext cx="5303520" cy="3200400"/>
          </a:xfrm>
          <a:prstGeom prst="roundRect">
            <a:avLst>
              <a:gd name="adj" fmla="val 2857"/>
            </a:avLst>
          </a:prstGeom>
          <a:solidFill>
            <a:srgbClr val="F5F5F5"/>
          </a:solidFill>
          <a:ln/>
        </p:spPr>
      </p:sp>
      <p:sp>
        <p:nvSpPr>
          <p:cNvPr id="17" name="Text 13"/>
          <p:cNvSpPr/>
          <p:nvPr/>
        </p:nvSpPr>
        <p:spPr>
          <a:xfrm>
            <a:off x="6583680" y="11887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Worked Example: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583680" y="1645920"/>
            <a:ext cx="49377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Predicted: [4.5, 3.0, 2.0, 5.0]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Actual:    [4.0, 3.5, 1.5, 4.5]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Errors:    [0.5,-0.5, 0.5, 0.5]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SSE = 0.25+0.25+0.25+0.25 = 1.0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MSE = 1.0 / 4 = 0.25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RMSE = √0.25 = 0.50 ★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400800" y="457200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27AE60"/>
          </a:solidFill>
          <a:ln/>
        </p:spPr>
      </p:sp>
      <p:sp>
        <p:nvSpPr>
          <p:cNvPr id="20" name="Text 16"/>
          <p:cNvSpPr/>
          <p:nvPr/>
        </p:nvSpPr>
        <p:spPr>
          <a:xfrm>
            <a:off x="6400800" y="4572000"/>
            <a:ext cx="1234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 0.8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Excellent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7726680" y="457200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E9C46A"/>
          </a:solidFill>
          <a:ln/>
        </p:spPr>
      </p:sp>
      <p:sp>
        <p:nvSpPr>
          <p:cNvPr id="22" name="Text 18"/>
          <p:cNvSpPr/>
          <p:nvPr/>
        </p:nvSpPr>
        <p:spPr>
          <a:xfrm>
            <a:off x="7726680" y="4572000"/>
            <a:ext cx="1234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0.8–1.0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Good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9052560" y="457200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E67E22"/>
          </a:solidFill>
          <a:ln/>
        </p:spPr>
      </p:sp>
      <p:sp>
        <p:nvSpPr>
          <p:cNvPr id="24" name="Text 20"/>
          <p:cNvSpPr/>
          <p:nvPr/>
        </p:nvSpPr>
        <p:spPr>
          <a:xfrm>
            <a:off x="9052560" y="4572000"/>
            <a:ext cx="1234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1.0–1.5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Fair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10378440" y="457200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E8705A"/>
          </a:solidFill>
          <a:ln/>
        </p:spPr>
      </p:sp>
      <p:sp>
        <p:nvSpPr>
          <p:cNvPr id="26" name="Text 22"/>
          <p:cNvSpPr/>
          <p:nvPr/>
        </p:nvSpPr>
        <p:spPr>
          <a:xfrm>
            <a:off x="10378440" y="4572000"/>
            <a:ext cx="1234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1.5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Poor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57200" y="5760720"/>
            <a:ext cx="11274552" cy="640080"/>
          </a:xfrm>
          <a:prstGeom prst="roundRect">
            <a:avLst>
              <a:gd name="adj" fmla="val 14286"/>
            </a:avLst>
          </a:prstGeom>
          <a:solidFill>
            <a:srgbClr val="F0F7F7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0080" y="5806440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Our best model (SVD): RMSE = 0.8706 → avg error of ~0.87 stars on a 1-5 scale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54864" cy="667512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5" name="Text 3"/>
          <p:cNvSpPr/>
          <p:nvPr/>
        </p:nvSpPr>
        <p:spPr>
          <a:xfrm>
            <a:off x="1145743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74320"/>
            <a:ext cx="7616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Ranking Metrics — Precision, Recall, MAP, NDCG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57200" y="1097280"/>
            <a:ext cx="5577840" cy="1280160"/>
          </a:xfrm>
          <a:prstGeom prst="roundRect">
            <a:avLst>
              <a:gd name="adj" fmla="val 5714"/>
            </a:avLst>
          </a:prstGeom>
          <a:solidFill>
            <a:srgbClr val="F5F5F5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1704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Precision@K:</a:t>
            </a:r>
            <a:endParaRPr lang="en-US" sz="1100" dirty="0"/>
          </a:p>
        </p:txBody>
      </p:sp>
      <p:pic>
        <p:nvPicPr>
          <p:cNvPr id="10" name="Image 0" descr="P:\recommendation-system\slides\formulas\preci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4572000" cy="77724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309360" y="1097280"/>
            <a:ext cx="5577840" cy="1280160"/>
          </a:xfrm>
          <a:prstGeom prst="roundRect">
            <a:avLst>
              <a:gd name="adj" fmla="val 5714"/>
            </a:avLst>
          </a:prstGeom>
          <a:solidFill>
            <a:srgbClr val="F5F5F5"/>
          </a:solidFill>
          <a:ln/>
        </p:spPr>
      </p:sp>
      <p:sp>
        <p:nvSpPr>
          <p:cNvPr id="12" name="Text 9"/>
          <p:cNvSpPr/>
          <p:nvPr/>
        </p:nvSpPr>
        <p:spPr>
          <a:xfrm>
            <a:off x="6446520" y="11704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Recall@K:</a:t>
            </a:r>
            <a:endParaRPr lang="en-US" sz="1100" dirty="0"/>
          </a:p>
        </p:txBody>
      </p:sp>
      <p:pic>
        <p:nvPicPr>
          <p:cNvPr id="13" name="Image 1" descr="P:\recommendation-system\slides\formulas\rec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63040"/>
            <a:ext cx="4572000" cy="7772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57200" y="2560320"/>
            <a:ext cx="5577840" cy="1280160"/>
          </a:xfrm>
          <a:prstGeom prst="roundRect">
            <a:avLst>
              <a:gd name="adj" fmla="val 5714"/>
            </a:avLst>
          </a:prstGeom>
          <a:solidFill>
            <a:srgbClr val="F5F5F5"/>
          </a:solidFill>
          <a:ln/>
        </p:spPr>
      </p:sp>
      <p:sp>
        <p:nvSpPr>
          <p:cNvPr id="15" name="Text 11"/>
          <p:cNvSpPr/>
          <p:nvPr/>
        </p:nvSpPr>
        <p:spPr>
          <a:xfrm>
            <a:off x="594360" y="263347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F1-Score:</a:t>
            </a:r>
            <a:endParaRPr lang="en-US" sz="1100" dirty="0"/>
          </a:p>
        </p:txBody>
      </p:sp>
      <p:pic>
        <p:nvPicPr>
          <p:cNvPr id="16" name="Image 2" descr="P:\recommendation-system\slides\formulas\f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926080"/>
            <a:ext cx="4572000" cy="777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309360" y="2560320"/>
            <a:ext cx="5577840" cy="1280160"/>
          </a:xfrm>
          <a:prstGeom prst="roundRect">
            <a:avLst>
              <a:gd name="adj" fmla="val 5714"/>
            </a:avLst>
          </a:prstGeom>
          <a:solidFill>
            <a:srgbClr val="F5F5F5"/>
          </a:solidFill>
          <a:ln/>
        </p:spPr>
      </p:sp>
      <p:sp>
        <p:nvSpPr>
          <p:cNvPr id="18" name="Text 13"/>
          <p:cNvSpPr/>
          <p:nvPr/>
        </p:nvSpPr>
        <p:spPr>
          <a:xfrm>
            <a:off x="6446520" y="263347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NDCG@K:</a:t>
            </a:r>
            <a:endParaRPr lang="en-US" sz="1100" dirty="0"/>
          </a:p>
        </p:txBody>
      </p:sp>
      <p:pic>
        <p:nvPicPr>
          <p:cNvPr id="19" name="Image 3" descr="P:\recommendation-system\slides\formulas\ndc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2926080"/>
            <a:ext cx="4572000" cy="777240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11480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463040"/>
                <a:gridCol w="146304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Algorithm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RMSE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P@10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MAP@10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NDCG@10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User-Based CF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0.9293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0.7383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Item-Based CF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0.9293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0.7383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SVD (k=50)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0.8706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0.6839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Content-Based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0.1163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0.0571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0.1248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1" name="Shape 14"/>
          <p:cNvSpPr/>
          <p:nvPr/>
        </p:nvSpPr>
        <p:spPr>
          <a:xfrm>
            <a:off x="457200" y="5760720"/>
            <a:ext cx="11274552" cy="640080"/>
          </a:xfrm>
          <a:prstGeom prst="roundRect">
            <a:avLst>
              <a:gd name="adj" fmla="val 14286"/>
            </a:avLst>
          </a:prstGeom>
          <a:solidFill>
            <a:srgbClr val="F0F7F7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22" name="Text 15"/>
          <p:cNvSpPr/>
          <p:nvPr/>
        </p:nvSpPr>
        <p:spPr>
          <a:xfrm>
            <a:off x="640080" y="5806440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SVD wins on prediction accuracy · Content-Based provides ranking-based evaluation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54864" cy="66751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1145743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 Features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74320"/>
            <a:ext cx="7616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 Features — Temporal Analysis</a:t>
            </a:r>
            <a:endParaRPr lang="en-US" sz="2800" dirty="0"/>
          </a:p>
        </p:txBody>
      </p:sp>
      <p:pic>
        <p:nvPicPr>
          <p:cNvPr id="8" name="Image 0" descr="P:\recommendation-system\slides\images\clock_calendar_tren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914400"/>
            <a:ext cx="4572000" cy="4572000"/>
          </a:xfrm>
          <a:prstGeom prst="ellipse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1097280"/>
            <a:ext cx="640080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 from timestamp: year, month, day, hour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Findings:</a:t>
            </a:r>
            <a:endParaRPr lang="en-US" sz="1300" dirty="0"/>
          </a:p>
          <a:p>
            <a:pPr lvl="1" marL="685800" indent="-342900">
              <a:lnSpc>
                <a:spcPct val="150000"/>
              </a:lnSpc>
              <a:buSzPct val="100000"/>
              <a:buChar char="○"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Weekends → slightly higher ratings (+0.07)</a:t>
            </a:r>
            <a:endParaRPr lang="en-US" sz="1300" dirty="0"/>
          </a:p>
          <a:p>
            <a:pPr lvl="1" marL="685800" indent="-342900">
              <a:lnSpc>
                <a:spcPct val="150000"/>
              </a:lnSpc>
              <a:buSzPct val="100000"/>
              <a:buChar char="○"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 night (9–11PM) → higher ratings</a:t>
            </a:r>
            <a:endParaRPr lang="en-US" sz="1300" dirty="0"/>
          </a:p>
          <a:p>
            <a:pPr lvl="1" marL="685800" indent="-342900">
              <a:lnSpc>
                <a:spcPct val="150000"/>
              </a:lnSpc>
              <a:buSzPct val="100000"/>
              <a:buChar char="○"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Slight decline in avg rating 2000→2003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matters:</a:t>
            </a:r>
            <a:endParaRPr lang="en-US" sz="1300" dirty="0"/>
          </a:p>
          <a:p>
            <a:pPr lvl="1" marL="685800" indent="-342900">
              <a:lnSpc>
                <a:spcPct val="150000"/>
              </a:lnSpc>
              <a:buSzPct val="100000"/>
              <a:buChar char="○"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Time-aware recommendations possible</a:t>
            </a:r>
            <a:endParaRPr lang="en-US" sz="1300" dirty="0"/>
          </a:p>
          <a:p>
            <a:pPr lvl="1" marL="685800" indent="-342900">
              <a:lnSpc>
                <a:spcPct val="150000"/>
              </a:lnSpc>
              <a:buSzPct val="100000"/>
              <a:buChar char="○"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mood varies by time of day &amp; week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5760720"/>
            <a:ext cx="11274552" cy="640080"/>
          </a:xfrm>
          <a:prstGeom prst="roundRect">
            <a:avLst>
              <a:gd name="adj" fmla="val 14286"/>
            </a:avLst>
          </a:prstGeom>
          <a:solidFill>
            <a:srgbClr val="F0F7F7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806440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Notebook: 07_context_features.ipynb → temporal feature extraction &amp; visualization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54864" cy="66751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1145743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 Features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74320"/>
            <a:ext cx="7616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 Features — Demographics Analysis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097280"/>
            <a:ext cx="64008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Gender: Female rates +0.06 higher than Male on average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Age: Under 18 rates highest (~3.68), 25-34 lowest (~3.50)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●"/>
            </a:pPr>
            <a:r>
              <a:rPr lang="en-US" sz="13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Genre preferences differ significantly:</a:t>
            </a:r>
            <a:endParaRPr lang="en-US" sz="1300" dirty="0"/>
          </a:p>
          <a:p>
            <a:pPr lvl="1" marL="685800" indent="-342900">
              <a:lnSpc>
                <a:spcPct val="150000"/>
              </a:lnSpc>
              <a:buSzPct val="100000"/>
              <a:buChar char="○"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♀ Female → Romance, Drama, Musical</a:t>
            </a:r>
            <a:endParaRPr lang="en-US" sz="1300" dirty="0"/>
          </a:p>
          <a:p>
            <a:pPr lvl="1" marL="685800" indent="-342900">
              <a:lnSpc>
                <a:spcPct val="150000"/>
              </a:lnSpc>
              <a:buSzPct val="100000"/>
              <a:buChar char="○"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♂ Male → Action, War, Horror, Sci-Fi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11480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3657600"/>
                <a:gridCol w="3474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Avg Rating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Top Genre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# Users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Male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3.56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~4,200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Female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3.62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Romance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~1,840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Under 18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3.68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Animation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~220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25-34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3.50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Drama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~2,100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56+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3.55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War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4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~230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5760720"/>
            <a:ext cx="11274552" cy="640080"/>
          </a:xfrm>
          <a:prstGeom prst="roundRect">
            <a:avLst>
              <a:gd name="adj" fmla="val 14286"/>
            </a:avLst>
          </a:prstGeom>
          <a:solidFill>
            <a:srgbClr val="F0F7F7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806440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Application: Cold-start fallback — recommend by demographics when no history exists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26465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264653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54864" cy="6675120"/>
          </a:xfrm>
          <a:prstGeom prst="rect">
            <a:avLst/>
          </a:prstGeom>
          <a:solidFill>
            <a:srgbClr val="264653"/>
          </a:solidFill>
          <a:ln/>
        </p:spPr>
      </p:sp>
      <p:sp>
        <p:nvSpPr>
          <p:cNvPr id="5" name="Text 3"/>
          <p:cNvSpPr/>
          <p:nvPr/>
        </p:nvSpPr>
        <p:spPr>
          <a:xfrm>
            <a:off x="1145743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74320"/>
            <a:ext cx="7616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Structure — Clean &amp; Modular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097280"/>
            <a:ext cx="64008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recommend-system/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docs/           ← 8 documentation files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notebooks/      ← 9 Colab notebooks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01_setup_eda.ipynb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02–06 (algorithms)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07_context · 08_evaluation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00_full_pipeline.ipynb ← API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src/            ← 5 Python modules (~620 LOC)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constants.py · data_loader.py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models.py (5 algorithms)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evaluation.py · context.py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frontend/       ← HTML/JS (Zen UI)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data/raw/ml-1m/ ← Dataset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results/        ← Charts + JSON reports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0" y="109728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Dependency Flow: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0" y="1828800"/>
            <a:ext cx="3657600" cy="502920"/>
          </a:xfrm>
          <a:prstGeom prst="roundRect">
            <a:avLst>
              <a:gd name="adj" fmla="val 14545"/>
            </a:avLst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0" y="182880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constants.py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0" y="23317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0" y="2743200"/>
            <a:ext cx="3657600" cy="502920"/>
          </a:xfrm>
          <a:prstGeom prst="roundRect">
            <a:avLst>
              <a:gd name="adj" fmla="val 14545"/>
            </a:avLst>
          </a:prstGeom>
          <a:solidFill>
            <a:srgbClr val="2A9D8F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0" y="274320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data_loader.py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0" y="32461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772400" y="3657600"/>
            <a:ext cx="3657600" cy="502920"/>
          </a:xfrm>
          <a:prstGeom prst="roundRect">
            <a:avLst>
              <a:gd name="adj" fmla="val 14545"/>
            </a:avLst>
          </a:prstGeom>
          <a:solidFill>
            <a:srgbClr val="2A9D8F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0" y="365760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models.py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44000" y="4160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772400" y="4572000"/>
            <a:ext cx="3657600" cy="502920"/>
          </a:xfrm>
          <a:prstGeom prst="roundRect">
            <a:avLst>
              <a:gd name="adj" fmla="val 14545"/>
            </a:avLst>
          </a:prstGeom>
          <a:solidFill>
            <a:srgbClr val="2A9D8F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0" y="457200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evaluation.py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0" y="50749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772400" y="5486400"/>
            <a:ext cx="3657600" cy="502920"/>
          </a:xfrm>
          <a:prstGeom prst="roundRect">
            <a:avLst>
              <a:gd name="adj" fmla="val 14545"/>
            </a:avLst>
          </a:prstGeom>
          <a:solidFill>
            <a:srgbClr val="2A9D8F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0" y="548640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context.py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26465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264653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54864" cy="6675120"/>
          </a:xfrm>
          <a:prstGeom prst="rect">
            <a:avLst/>
          </a:prstGeom>
          <a:solidFill>
            <a:srgbClr val="264653"/>
          </a:solidFill>
          <a:ln/>
        </p:spPr>
      </p:sp>
      <p:sp>
        <p:nvSpPr>
          <p:cNvPr id="5" name="Text 3"/>
          <p:cNvSpPr/>
          <p:nvPr/>
        </p:nvSpPr>
        <p:spPr>
          <a:xfrm>
            <a:off x="1145743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74320"/>
            <a:ext cx="7616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 — Colab + Cloudflare Pages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4754880" cy="4114800"/>
          </a:xfrm>
          <a:prstGeom prst="roundRect">
            <a:avLst>
              <a:gd name="adj" fmla="val 3333"/>
            </a:avLst>
          </a:prstGeom>
          <a:solidFill>
            <a:srgbClr val="E8F6F3"/>
          </a:solidFill>
          <a:ln w="31750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2344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☁️ Google Colab (Backend)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19202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Load MovieLens 1M dataset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Train 5 recommendation models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FastAPI server (port 8000)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Serve predictions via REST API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Endpoint: /api/recommend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03520" y="2926080"/>
            <a:ext cx="1554480" cy="73152"/>
          </a:xfrm>
          <a:prstGeom prst="rect">
            <a:avLst/>
          </a:prstGeom>
          <a:solidFill>
            <a:srgbClr val="E8705A"/>
          </a:solidFill>
          <a:ln/>
        </p:spPr>
      </p:sp>
      <p:sp>
        <p:nvSpPr>
          <p:cNvPr id="12" name="Shape 10"/>
          <p:cNvSpPr/>
          <p:nvPr/>
        </p:nvSpPr>
        <p:spPr>
          <a:xfrm>
            <a:off x="5303520" y="3200400"/>
            <a:ext cx="1554480" cy="73152"/>
          </a:xfrm>
          <a:prstGeom prst="rect">
            <a:avLst/>
          </a:prstGeom>
          <a:solidFill>
            <a:srgbClr val="E8705A"/>
          </a:solidFill>
          <a:ln/>
        </p:spPr>
      </p:sp>
      <p:sp>
        <p:nvSpPr>
          <p:cNvPr id="13" name="Text 11"/>
          <p:cNvSpPr/>
          <p:nvPr/>
        </p:nvSpPr>
        <p:spPr>
          <a:xfrm>
            <a:off x="5120640" y="33832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7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ngrok tunnel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949440" y="1188720"/>
            <a:ext cx="4754880" cy="4114800"/>
          </a:xfrm>
          <a:prstGeom prst="roundRect">
            <a:avLst>
              <a:gd name="adj" fmla="val 3333"/>
            </a:avLst>
          </a:prstGeom>
          <a:solidFill>
            <a:srgbClr val="FDF2E9"/>
          </a:solidFill>
          <a:ln w="31750">
            <a:solidFill>
              <a:srgbClr val="E870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49440" y="12344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70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 Cloudflare Pages (Frontend)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23760" y="19202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Static HTML/CSS/JS (Zen UI)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JS fetch() → API calls to backend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Display movie recommendations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Algorithm selector dropdown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Prediction scores shown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5760720"/>
            <a:ext cx="11274552" cy="640080"/>
          </a:xfrm>
          <a:prstGeom prst="roundRect">
            <a:avLst>
              <a:gd name="adj" fmla="val 14286"/>
            </a:avLst>
          </a:prstGeom>
          <a:solidFill>
            <a:srgbClr val="F0F7F7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5806440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Open web → 2. Paste ngrok URL → 3. Select user &amp; algorithm → 4. Get predictions with scores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29984"/>
            <a:ext cx="12192000" cy="128016"/>
          </a:xfrm>
          <a:prstGeom prst="rect">
            <a:avLst/>
          </a:prstGeom>
          <a:solidFill>
            <a:srgbClr val="E9C46A"/>
          </a:solidFill>
          <a:ln/>
        </p:spPr>
      </p:sp>
      <p:pic>
        <p:nvPicPr>
          <p:cNvPr id="4" name="Image 0" descr="P:\recommendation-system\slides\images\rocket_lau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731520"/>
            <a:ext cx="4389120" cy="4389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914400"/>
            <a:ext cx="6400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Future Work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731520" y="2743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 it now: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31520" y="3200400"/>
            <a:ext cx="5943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Open Colab notebook → Run All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Copy ngrok URL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Visit the web frontend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Paste URL → Select algorithm → See results!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5029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Improvements: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539496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Neural CF (deep learning)  • Implicit feedback (ALS)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Docker deployment           • Richer metadata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315200" y="5029200"/>
            <a:ext cx="4389120" cy="1371600"/>
          </a:xfrm>
          <a:prstGeom prst="roundRect">
            <a:avLst>
              <a:gd name="adj" fmla="val 10000"/>
            </a:avLst>
          </a:prstGeom>
          <a:solidFill>
            <a:srgbClr val="E8705A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0" y="502920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You! 🎬🍿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7315200" y="57607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2026-04-12T10:32:21Z</dcterms:created>
  <dcterms:modified xsi:type="dcterms:W3CDTF">2026-04-12T10:32:21Z</dcterms:modified>
</cp:coreProperties>
</file>