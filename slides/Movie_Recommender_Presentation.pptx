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3" name="Image 0" descr="images/cover_illustration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0" b="0"/>
          <a:stretch/>
        </p:blipFill>
        <p:spPr>
          <a:xfrm>
            <a:off x="7315200" y="-457200"/>
            <a:ext cx="3657600" cy="668655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EA5E9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TD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0"/>
            <a:ext cx="9144000" cy="18288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62940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Movie Recommender System Project  |  DevConnect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VISU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MOVIE RECOMMENDER SYSTEM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Using Collaborative Filtering, SVD &amp; Hybrid Approaches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4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MovieLens 1M · 5 Algorithms · Web Demo</a:t>
            </a:r>
            <a:endParaRPr lang="en-US" sz="1800" dirty="0"/>
          </a:p>
        </p:txBody>
      </p:sp>
      <p:pic>
        <p:nvPicPr>
          <p:cNvPr id="5" name="Image 0" descr="images/cover_illustr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371600"/>
            <a:ext cx="3200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a Recommender System?</a:t>
            </a:r>
            <a:endParaRPr lang="en-US" sz="3200" dirty="0"/>
          </a:p>
        </p:txBody>
      </p:sp>
      <p:pic>
        <p:nvPicPr>
          <p:cNvPr id="3" name="Image 0" descr="images/choice_overlo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Core Definition: AI algorithm designed to predict user preferences.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Challenge: Choice Overload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800M videos on YouTube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1.5B items on Shopee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Goal: Act as an intelligent filter to help users find the perfect item instantly.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Why Movies? Why MovieLens?</a:t>
            </a:r>
            <a:endParaRPr lang="en-US" sz="3200" dirty="0"/>
          </a:p>
        </p:txBody>
      </p:sp>
      <p:pic>
        <p:nvPicPr>
          <p:cNvPr id="3" name="Image 0" descr="images/movie_data_ic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Movies represent the ideal testing domain for RecSys.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Easier to evaluate than abstract products.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Rich contextual metadata (genres, directors).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Gold Standard dataset: MovieLens.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 chose the 1M Version (1 million ratings)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Balances computational speed with enough sparsity to challenge our algorithms.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MovieLens 1M — Overview</a:t>
            </a:r>
            <a:endParaRPr lang="en-US" sz="3200" dirty="0"/>
          </a:p>
        </p:txBody>
      </p:sp>
      <p:pic>
        <p:nvPicPr>
          <p:cNvPr id="3" name="Image 0" descr="images/data_files_matri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 consists of exactly 1,000,209 interactions.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Scale: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6,040 Users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3,883 Movies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Ratings from 1 to 5 stars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Sparsity: 95.5%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This means 95.5% of the user-movie matrix is empty.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Our goal is to accurately predict these empty spaces.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Dataset Details: What's Inside?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1: ratings.dat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Col: userId, movieId, rating, timestamp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2: movies.dat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Col: movieId, title, 18 distinct genres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3: users.dat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Col: gender, 7 age groups, 21 occupation categories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Each file uniquely feeds into different branches of our algorithms.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Flow: File → Algorithm</a:t>
            </a:r>
            <a:endParaRPr lang="en-US" sz="2800" dirty="0"/>
          </a:p>
        </p:txBody>
      </p:sp>
      <p:pic>
        <p:nvPicPr>
          <p:cNvPr id="3" name="Image 0" descr="images/data_flow_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914400"/>
            <a:ext cx="7315200" cy="5486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Setup &amp; EDA Pipeline</a:t>
            </a:r>
            <a:endParaRPr lang="en-US" sz="3200" dirty="0"/>
          </a:p>
        </p:txBody>
      </p:sp>
      <p:pic>
        <p:nvPicPr>
          <p:cNvPr id="3" name="Image 0" descr="images/scientist_char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Environment Built on Google Colab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Libraries: Pandas, Scikit-learn, Surprise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Ingestion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Parsed custom '::' delimiters unique to MovieLens.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Initial Pipeline Statistics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Average rating across system: 3.58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Cleaned and prepared dataframe for matrix creation.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EDA Key Findings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200400" cy="36576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645920"/>
            <a:ext cx="2834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</a:rPr>
              <a:t>Rating Distribution: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</a:rPr>
              <a:t>4-Star is the most common (34%).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</a:rPr>
              <a:t>Users lean towards positive ratings.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0" y="1371600"/>
            <a:ext cx="3200400" cy="36576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0" y="1645920"/>
            <a:ext cx="2834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</a:rPr>
              <a:t>Long Tail Effect: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</a:rPr>
              <a:t>Top 100 movies hold massive interaction volume.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</a:rPr>
              <a:t>Thousands of niche movies sit with &lt;10 ratings.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Algorithm Taxonomy</a:t>
            </a:r>
            <a:endParaRPr lang="en-US" sz="3200" dirty="0"/>
          </a:p>
        </p:txBody>
      </p:sp>
      <p:pic>
        <p:nvPicPr>
          <p:cNvPr id="3" name="Image 0" descr="images/algorithm_tre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Our system implements multiple logic engines: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Collaborative Filtering (CF)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User-Based CF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Item-Based CF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Singular Value Decomposition (SVD)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Content-Based Filtering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Hybrid Approach (Fusing multiple branches)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User-Based Collaborative Filtering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Concept: 'Similar users like similar movies'.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Mechanism: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Calculate Cosine Similarity between users.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Select K=20 'Nearest Neighbors'.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 rating using weighted average of neighbors.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Pros: Highly intuitive.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Cons: Slow at scale, and suffers from 'Cold-Start'.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Item-Based Collaborative Filtering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Concept: 'Similar items get similar ratings'.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Mechanism: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movies instead of users.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If Movie A and B get similar ratings from users, they are similar.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Advantage over User-Based: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Item matrix is much more stable than the User matrix.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Less expensive to compute in production.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SVD — Matrix Factorization</a:t>
            </a:r>
            <a:endParaRPr lang="en-US" sz="3200" dirty="0"/>
          </a:p>
        </p:txBody>
      </p:sp>
      <p:pic>
        <p:nvPicPr>
          <p:cNvPr id="3" name="Image 0" descr="images/matrix_decomposi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Concept: Finding Latent Factors.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Decomposes massive matrix (R) into User Matrix (P) and Item Matrix (Q).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 configured 50 Latent Factors (k=50).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Optimization: Stochastic Gradient Descent (SGD).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Verdict: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 performer among traditional algorithms.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Highly resilient against sparse data.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Content-Based Filtering</a:t>
            </a:r>
            <a:endParaRPr lang="en-US" sz="3200" dirty="0"/>
          </a:p>
        </p:txBody>
      </p:sp>
      <p:pic>
        <p:nvPicPr>
          <p:cNvPr id="3" name="Image 0" descr="images/movie_tags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Concept: Matching movie metadata directly.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Mechanism: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Extracted genres and titles.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Transformed text using TF-IDF (Term Frequency-Inverse Document Frequency) vectors.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Recommends films using cosine similarity of the content completely independent of other users.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Massive Advantage: Completely solves the Cold-Start problem.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System (SVD + Content-Based)</a:t>
            </a:r>
            <a:endParaRPr lang="en-US" sz="3200" dirty="0"/>
          </a:p>
        </p:txBody>
      </p:sp>
      <p:pic>
        <p:nvPicPr>
          <p:cNvPr id="3" name="Image 0" descr="images/puzzle_piec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Our Capstone Model: The best of both worlds.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Weighted Equation: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Score = 0.6 × SVD + 0.4 × Content-Based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Cascade Strategy: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If SVD lacks user history, Content-Based steps in.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Delivers high prediction accuracy while preserving niche diversity.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Why Evaluate? Two Types of Metrics</a:t>
            </a:r>
            <a:endParaRPr lang="en-US" sz="3200" dirty="0"/>
          </a:p>
        </p:txBody>
      </p:sp>
      <p:pic>
        <p:nvPicPr>
          <p:cNvPr id="3" name="Image 0" descr="images/scientist_char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 prove scientific rigor, we evaluated exactly on an 80/20 train/test split.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Category 1: Prediction Metrics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'How close is our prediction to the true star rating?'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RMSE and MAE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Category 2: Ranking Metrics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'Did we put the right movies in the top 10 list?'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Precision@K, Recall, MAP, NDCG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Prediction Metrics: RMSE Focus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1828800"/>
          </a:xfrm>
          <a:prstGeom prst="roundRect">
            <a:avLst>
              <a:gd name="adj" fmla="val 5000"/>
            </a:avLst>
          </a:prstGeom>
          <a:solidFill>
            <a:srgbClr val="0EA5E9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SVD achieved RMSE = 0.87 (The lowest error)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65760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4155"/>
                </a:solidFill>
              </a:rPr>
              <a:t>Comparison:
</a:t>
            </a:r>
            <a:pPr indent="0" marL="0">
              <a:buNone/>
            </a:pPr>
            <a:r>
              <a:rPr lang="en-US" sz="2000" dirty="0">
                <a:solidFill>
                  <a:srgbClr val="334155"/>
                </a:solidFill>
              </a:rPr>
              <a:t>• User-Based CF: 0.9293
</a:t>
            </a:r>
            <a:pPr indent="0" marL="0">
              <a:buNone/>
            </a:pPr>
            <a:r>
              <a:rPr lang="en-US" sz="2000" dirty="0">
                <a:solidFill>
                  <a:srgbClr val="334155"/>
                </a:solidFill>
              </a:rPr>
              <a:t>• Item-Based CF: 0.9293
</a:t>
            </a:r>
            <a:pPr indent="0" marL="0">
              <a:buNone/>
            </a:pPr>
            <a:r>
              <a:rPr lang="en-US" sz="2000" dirty="0">
                <a:solidFill>
                  <a:srgbClr val="334155"/>
                </a:solidFill>
              </a:rPr>
              <a:t>• SVD: 0.8706
</a:t>
            </a:r>
            <a:pPr indent="0" marL="0">
              <a:buNone/>
            </a:pPr>
            <a:r>
              <a:rPr lang="en-US" sz="2000" dirty="0">
                <a:solidFill>
                  <a:srgbClr val="334155"/>
                </a:solidFill>
              </a:rPr>
              <a:t>Root Mean Square Error heavily penalizes large mistakes, ensuring our system avoids making terrible movie recommendations.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Ranking Metrics: Top-K Assessment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Content-Based performance: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Precision@10 = 0.1163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NDCG@10 = 0.1248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Interpretation: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 of 3,800 movies, effectively placing relevant items in the strict top 10 is challenging.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Our NDCG score proves the ranked order closely aligns with user preferences.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Temporal Analysis Context</a:t>
            </a:r>
            <a:endParaRPr lang="en-US" sz="3200" dirty="0"/>
          </a:p>
        </p:txBody>
      </p:sp>
      <p:pic>
        <p:nvPicPr>
          <p:cNvPr id="3" name="Image 0" descr="images/clock_calendar_tre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Extracted timestamps to analyze behavior across time.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Findings: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 provide slightly higher ratings on weekends.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Peak engagement window: 9 PM to 11 PM.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Allows the platform to dynamically boost high-rated weekend recommendations.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Demographics &amp; Cold-Start Fallback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Examining the users.dat file: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Gender differences: Females rate slightly higher (+0.06 stars).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Strong genre splits: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→ Males dominant in Action &amp; Sci-Fi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→ Females dominant in Drama &amp; Romance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Application: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This demographic data serves as the perfect fallback layout for brand-new users before we gather their history.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Structure &amp; Codebase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Our codebase utilizes strict modularization.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docs/ : All research and writing modules.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notebooks/ : Jupyter experimentation.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frontend/ : 'Zen UI' codebase.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src/ : Pure Python modules.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Flow in Code: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constants → data_loader → models → evaluation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System Architecture: Decoupled Deploy</a:t>
            </a:r>
            <a:endParaRPr lang="en-US" sz="3200" dirty="0"/>
          </a:p>
        </p:txBody>
      </p:sp>
      <p:pic>
        <p:nvPicPr>
          <p:cNvPr id="3" name="Image 0" descr="images/data_flow_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(Google Colab)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Hosts the heavy Machine Learning models.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Exposes a FastAPI endpoint.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Bridged to the internet via an ngrok tunnel.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Frontend (Cloudflare Pages)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Static 'Zen UI' deployed completely free.</a:t>
            </a:r>
            <a:endParaRPr lang="en-US" sz="2000" dirty="0"/>
          </a:p>
          <a:p>
            <a:pPr lvl="1">
              <a:spcAft>
                <a:spcPts val="2400"/>
              </a:spcAft>
            </a:pPr>
            <a:r>
              <a:rPr lang="en-US" sz="1800" dirty="0">
                <a:solidFill>
                  <a:srgbClr val="64748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Calls the Colab backend dynamically via Javascript fetch API.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Demo &amp; Future Work</a:t>
            </a:r>
            <a:endParaRPr lang="en-US" sz="3200" dirty="0"/>
          </a:p>
        </p:txBody>
      </p:sp>
      <p:pic>
        <p:nvPicPr>
          <p:cNvPr id="3" name="Image 0" descr="images/rocket_laun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3474720" cy="5029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0" y="137160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Future Work Pipeline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Neural Collaborative Filtering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Processing Implicit Data (clicks, views vs explicit star ratings)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Dockerizing backend for robust cloud server hosting.</a:t>
            </a:r>
            <a:endParaRPr lang="en-US" sz="2000" dirty="0"/>
          </a:p>
          <a:p>
            <a:pPr>
              <a:spcAft>
                <a:spcPts val="2400"/>
              </a:spcAft>
            </a:pP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Thank you for listening!</a:t>
            </a:r>
            <a:endParaRPr lang="en-US" sz="2000" dirty="0"/>
          </a:p>
          <a:p>
            <a:pPr>
              <a:spcAft>
                <a:spcPts val="2400"/>
              </a:spcAft>
            </a:pPr>
            <a:r>
              <a:rPr lang="en-US" sz="2000" dirty="0">
                <a:solidFill>
                  <a:srgbClr val="3341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Q&amp;A Session is now open.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0EA5E9"/>
                </a:solidFill>
                <a:latin typeface="Helvetica"/>
                <a:ea typeface="Helvetica"/>
                <a:cs typeface="Helvetica"/>
              </a:defRPr>
            </a:lvl1pPr>
          </a:lstStyle>
          <a:p>
            <a:pPr algn="l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2026-04-12T10:12:03Z</dcterms:created>
  <dcterms:modified xsi:type="dcterms:W3CDTF">2026-04-12T10:12:03Z</dcterms:modified>
</cp:coreProperties>
</file>